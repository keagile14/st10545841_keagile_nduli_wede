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TC October" charset="1" panose="00000000000000000000"/>
      <p:regular r:id="rId32"/>
    </p:embeddedFont>
    <p:embeddedFont>
      <p:font typeface="Handy Casual" charset="1" panose="00000500000000000000"/>
      <p:regular r:id="rId33"/>
    </p:embeddedFont>
    <p:embeddedFont>
      <p:font typeface="Canva Sans" charset="1" panose="020B0503030501040103"/>
      <p:regular r:id="rId34"/>
    </p:embeddedFont>
    <p:embeddedFont>
      <p:font typeface="Canva Sans Bold" charset="1" panose="020B0803030501040103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7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2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svg" Type="http://schemas.openxmlformats.org/officeDocument/2006/relationships/image"/><Relationship Id="rId2" Target="../media/image6.jpe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31.png" Type="http://schemas.openxmlformats.org/officeDocument/2006/relationships/image"/><Relationship Id="rId6" Target="../media/image32.svg" Type="http://schemas.openxmlformats.org/officeDocument/2006/relationships/image"/><Relationship Id="rId7" Target="../media/image33.png" Type="http://schemas.openxmlformats.org/officeDocument/2006/relationships/image"/><Relationship Id="rId8" Target="../media/image34.sv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37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38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39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svg" Type="http://schemas.openxmlformats.org/officeDocument/2006/relationships/image"/><Relationship Id="rId2" Target="../media/image6.jpe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31.png" Type="http://schemas.openxmlformats.org/officeDocument/2006/relationships/image"/><Relationship Id="rId6" Target="../media/image32.svg" Type="http://schemas.openxmlformats.org/officeDocument/2006/relationships/image"/><Relationship Id="rId7" Target="../media/image33.png" Type="http://schemas.openxmlformats.org/officeDocument/2006/relationships/image"/><Relationship Id="rId8" Target="../media/image34.sv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0.png" Type="http://schemas.openxmlformats.org/officeDocument/2006/relationships/image"/><Relationship Id="rId4" Target="../media/image41.svg" Type="http://schemas.openxmlformats.org/officeDocument/2006/relationships/image"/><Relationship Id="rId5" Target="../media/image42.png" Type="http://schemas.openxmlformats.org/officeDocument/2006/relationships/image"/><Relationship Id="rId6" Target="../media/image43.svg" Type="http://schemas.openxmlformats.org/officeDocument/2006/relationships/image"/><Relationship Id="rId7" Target="../media/image44.png" Type="http://schemas.openxmlformats.org/officeDocument/2006/relationships/image"/><Relationship Id="rId8" Target="../media/image4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675" t="-17316" r="0" b="-674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69314" y="3735979"/>
            <a:ext cx="11749373" cy="366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99"/>
              </a:lnSpc>
            </a:pPr>
            <a:r>
              <a:rPr lang="en-US" sz="15999">
                <a:solidFill>
                  <a:srgbClr val="3D372C"/>
                </a:solidFill>
                <a:latin typeface="TC October"/>
                <a:ea typeface="TC October"/>
                <a:cs typeface="TC October"/>
                <a:sym typeface="TC October"/>
              </a:rPr>
              <a:t>PROJECT PROPOSAL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457206">
            <a:off x="14028715" y="4374378"/>
            <a:ext cx="3580159" cy="3779438"/>
          </a:xfrm>
          <a:custGeom>
            <a:avLst/>
            <a:gdLst/>
            <a:ahLst/>
            <a:cxnLst/>
            <a:rect r="r" b="b" t="t" l="l"/>
            <a:pathLst>
              <a:path h="3779438" w="3580159">
                <a:moveTo>
                  <a:pt x="0" y="0"/>
                </a:moveTo>
                <a:lnTo>
                  <a:pt x="3580159" y="0"/>
                </a:lnTo>
                <a:lnTo>
                  <a:pt x="3580159" y="3779439"/>
                </a:lnTo>
                <a:lnTo>
                  <a:pt x="0" y="37794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33672">
            <a:off x="1061280" y="300824"/>
            <a:ext cx="3800341" cy="4239731"/>
          </a:xfrm>
          <a:custGeom>
            <a:avLst/>
            <a:gdLst/>
            <a:ahLst/>
            <a:cxnLst/>
            <a:rect r="r" b="b" t="t" l="l"/>
            <a:pathLst>
              <a:path h="4239731" w="3800341">
                <a:moveTo>
                  <a:pt x="0" y="0"/>
                </a:moveTo>
                <a:lnTo>
                  <a:pt x="3800342" y="0"/>
                </a:lnTo>
                <a:lnTo>
                  <a:pt x="3800342" y="4239731"/>
                </a:lnTo>
                <a:lnTo>
                  <a:pt x="0" y="42397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69314" y="7262133"/>
            <a:ext cx="11749373" cy="38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0"/>
              </a:lnSpc>
            </a:pPr>
            <a:r>
              <a:rPr lang="en-US" sz="3200">
                <a:solidFill>
                  <a:srgbClr val="3D372C"/>
                </a:solidFill>
                <a:latin typeface="Handy Casual"/>
                <a:ea typeface="Handy Casual"/>
                <a:cs typeface="Handy Casual"/>
                <a:sym typeface="Handy Casual"/>
              </a:rPr>
              <a:t>BY KEAGILE NDULI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61361">
            <a:off x="15646815" y="7418601"/>
            <a:ext cx="2147730" cy="2132110"/>
          </a:xfrm>
          <a:custGeom>
            <a:avLst/>
            <a:gdLst/>
            <a:ahLst/>
            <a:cxnLst/>
            <a:rect r="r" b="b" t="t" l="l"/>
            <a:pathLst>
              <a:path h="2132110" w="2147730">
                <a:moveTo>
                  <a:pt x="0" y="0"/>
                </a:moveTo>
                <a:lnTo>
                  <a:pt x="2147730" y="0"/>
                </a:lnTo>
                <a:lnTo>
                  <a:pt x="2147730" y="2132110"/>
                </a:lnTo>
                <a:lnTo>
                  <a:pt x="0" y="213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33028">
            <a:off x="15013634" y="6002931"/>
            <a:ext cx="1422578" cy="1412232"/>
          </a:xfrm>
          <a:custGeom>
            <a:avLst/>
            <a:gdLst/>
            <a:ahLst/>
            <a:cxnLst/>
            <a:rect r="r" b="b" t="t" l="l"/>
            <a:pathLst>
              <a:path h="1412232" w="1422578">
                <a:moveTo>
                  <a:pt x="0" y="0"/>
                </a:moveTo>
                <a:lnTo>
                  <a:pt x="1422578" y="0"/>
                </a:lnTo>
                <a:lnTo>
                  <a:pt x="1422578" y="1412232"/>
                </a:lnTo>
                <a:lnTo>
                  <a:pt x="0" y="14122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7091" y="1323886"/>
            <a:ext cx="3860431" cy="4114800"/>
          </a:xfrm>
          <a:custGeom>
            <a:avLst/>
            <a:gdLst/>
            <a:ahLst/>
            <a:cxnLst/>
            <a:rect r="r" b="b" t="t" l="l"/>
            <a:pathLst>
              <a:path h="4114800" w="3860431">
                <a:moveTo>
                  <a:pt x="0" y="0"/>
                </a:moveTo>
                <a:lnTo>
                  <a:pt x="3860431" y="0"/>
                </a:lnTo>
                <a:lnTo>
                  <a:pt x="386043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902288" y="3990886"/>
            <a:ext cx="12309035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ORGANISATIONS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31674" y="2278806"/>
            <a:ext cx="8227424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00"/>
              </a:lnSpc>
            </a:pPr>
            <a:r>
              <a:rPr lang="en-US" sz="12000">
                <a:solidFill>
                  <a:srgbClr val="FFD034"/>
                </a:solidFill>
                <a:latin typeface="TC October"/>
                <a:ea typeface="TC October"/>
                <a:cs typeface="TC October"/>
                <a:sym typeface="TC October"/>
              </a:rPr>
              <a:t>INTRODUCTION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11445" y="6185443"/>
            <a:ext cx="12912827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80" indent="-453390" lvl="1">
              <a:lnSpc>
                <a:spcPts val="5040"/>
              </a:lnSpc>
              <a:buAutoNum type="arabicPeriod" startAt="1"/>
            </a:pPr>
            <a:r>
              <a:rPr lang="en-US" sz="42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Iron Crown Dentistry </a:t>
            </a:r>
          </a:p>
          <a:p>
            <a:pPr algn="l" marL="906780" indent="-453390" lvl="1">
              <a:lnSpc>
                <a:spcPts val="5040"/>
              </a:lnSpc>
              <a:buAutoNum type="arabicPeriod" startAt="1"/>
            </a:pPr>
            <a:r>
              <a:rPr lang="en-US" sz="42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Mzansi Water Drilling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61361">
            <a:off x="16185435" y="7463133"/>
            <a:ext cx="2147730" cy="2132110"/>
          </a:xfrm>
          <a:custGeom>
            <a:avLst/>
            <a:gdLst/>
            <a:ahLst/>
            <a:cxnLst/>
            <a:rect r="r" b="b" t="t" l="l"/>
            <a:pathLst>
              <a:path h="2132110" w="2147730">
                <a:moveTo>
                  <a:pt x="0" y="0"/>
                </a:moveTo>
                <a:lnTo>
                  <a:pt x="2147730" y="0"/>
                </a:lnTo>
                <a:lnTo>
                  <a:pt x="2147730" y="2132111"/>
                </a:lnTo>
                <a:lnTo>
                  <a:pt x="0" y="21321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33028">
            <a:off x="15703405" y="6002931"/>
            <a:ext cx="1422578" cy="1412232"/>
          </a:xfrm>
          <a:custGeom>
            <a:avLst/>
            <a:gdLst/>
            <a:ahLst/>
            <a:cxnLst/>
            <a:rect r="r" b="b" t="t" l="l"/>
            <a:pathLst>
              <a:path h="1412232" w="1422578">
                <a:moveTo>
                  <a:pt x="0" y="0"/>
                </a:moveTo>
                <a:lnTo>
                  <a:pt x="1422578" y="0"/>
                </a:lnTo>
                <a:lnTo>
                  <a:pt x="1422578" y="1412232"/>
                </a:lnTo>
                <a:lnTo>
                  <a:pt x="0" y="14122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6256" y="1279353"/>
            <a:ext cx="3860431" cy="4114800"/>
          </a:xfrm>
          <a:custGeom>
            <a:avLst/>
            <a:gdLst/>
            <a:ahLst/>
            <a:cxnLst/>
            <a:rect r="r" b="b" t="t" l="l"/>
            <a:pathLst>
              <a:path h="4114800" w="3860431">
                <a:moveTo>
                  <a:pt x="0" y="0"/>
                </a:moveTo>
                <a:lnTo>
                  <a:pt x="3860430" y="0"/>
                </a:lnTo>
                <a:lnTo>
                  <a:pt x="3860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902288" y="3990886"/>
            <a:ext cx="12309035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ORGANISATION OVERVIEW</a:t>
            </a:r>
            <a:r>
              <a:rPr lang="en-US" sz="48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006686" y="1409700"/>
            <a:ext cx="12100238" cy="2826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71"/>
              </a:lnSpc>
            </a:pPr>
            <a:r>
              <a:rPr lang="en-US" sz="12319">
                <a:solidFill>
                  <a:srgbClr val="FFD034"/>
                </a:solidFill>
                <a:latin typeface="TC October"/>
                <a:ea typeface="TC October"/>
                <a:cs typeface="TC October"/>
                <a:sym typeface="TC October"/>
              </a:rPr>
              <a:t>IRON CROWN DENTISTRY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06686" y="4765739"/>
            <a:ext cx="12912827" cy="510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Iron Crown Dentistry is a dental practice that provides three main types of services: </a:t>
            </a:r>
          </a:p>
          <a:p>
            <a:pPr algn="l" marL="906780" indent="-453390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preventive dentistry</a:t>
            </a:r>
          </a:p>
          <a:p>
            <a:pPr algn="l" marL="906780" indent="-453390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restorative dentistry </a:t>
            </a:r>
          </a:p>
          <a:p>
            <a:pPr algn="l" marL="906780" indent="-453390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cosmetic dentistry.</a:t>
            </a:r>
          </a:p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The practice was founded in 2018 by Jon Snow.</a:t>
            </a: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867750">
            <a:off x="732068" y="1360301"/>
            <a:ext cx="3009596" cy="2790716"/>
          </a:xfrm>
          <a:custGeom>
            <a:avLst/>
            <a:gdLst/>
            <a:ahLst/>
            <a:cxnLst/>
            <a:rect r="r" b="b" t="t" l="l"/>
            <a:pathLst>
              <a:path h="2790716" w="3009596">
                <a:moveTo>
                  <a:pt x="0" y="0"/>
                </a:moveTo>
                <a:lnTo>
                  <a:pt x="3009596" y="0"/>
                </a:lnTo>
                <a:lnTo>
                  <a:pt x="3009596" y="2790716"/>
                </a:lnTo>
                <a:lnTo>
                  <a:pt x="0" y="27907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96892">
            <a:off x="14420974" y="1222213"/>
            <a:ext cx="2896276" cy="2891010"/>
          </a:xfrm>
          <a:custGeom>
            <a:avLst/>
            <a:gdLst/>
            <a:ahLst/>
            <a:cxnLst/>
            <a:rect r="r" b="b" t="t" l="l"/>
            <a:pathLst>
              <a:path h="2891010" w="2896276">
                <a:moveTo>
                  <a:pt x="0" y="0"/>
                </a:moveTo>
                <a:lnTo>
                  <a:pt x="2896276" y="0"/>
                </a:lnTo>
                <a:lnTo>
                  <a:pt x="2896276" y="2891010"/>
                </a:lnTo>
                <a:lnTo>
                  <a:pt x="0" y="28910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582068" y="2092317"/>
            <a:ext cx="5018447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00"/>
              </a:lnSpc>
            </a:pPr>
            <a:r>
              <a:rPr lang="en-US" sz="12000">
                <a:solidFill>
                  <a:srgbClr val="FFD034"/>
                </a:solidFill>
                <a:latin typeface="TC October"/>
                <a:ea typeface="TC October"/>
                <a:cs typeface="TC October"/>
                <a:sym typeface="TC October"/>
              </a:rPr>
              <a:t>MISSION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97002" y="2203209"/>
            <a:ext cx="4630865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200"/>
              </a:lnSpc>
            </a:pPr>
            <a:r>
              <a:rPr lang="en-US" sz="12000">
                <a:solidFill>
                  <a:srgbClr val="FFD034"/>
                </a:solidFill>
                <a:latin typeface="TC October"/>
                <a:ea typeface="TC October"/>
                <a:cs typeface="TC October"/>
                <a:sym typeface="TC October"/>
              </a:rPr>
              <a:t>VISION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52208" y="4838877"/>
            <a:ext cx="6478167" cy="289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THE MISSION OF IRON CROWN DENTISTRY IS TO MAKE DENTISTRY AVAILABLE TO PEOPLE FROM UNDERDEVELOPED COMMUNITIES.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94769" y="4838877"/>
            <a:ext cx="6478167" cy="289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THE VISION IS TO BECOME A LEADING DENTISTRY WITH PRACTICES IN UNDERDEVELOPED COMMUNITIES.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4587" y="3375507"/>
            <a:ext cx="6563694" cy="5978928"/>
          </a:xfrm>
          <a:custGeom>
            <a:avLst/>
            <a:gdLst/>
            <a:ahLst/>
            <a:cxnLst/>
            <a:rect r="r" b="b" t="t" l="l"/>
            <a:pathLst>
              <a:path h="5978928" w="6563694">
                <a:moveTo>
                  <a:pt x="0" y="0"/>
                </a:moveTo>
                <a:lnTo>
                  <a:pt x="6563694" y="0"/>
                </a:lnTo>
                <a:lnTo>
                  <a:pt x="6563694" y="5978929"/>
                </a:lnTo>
                <a:lnTo>
                  <a:pt x="0" y="59789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51254">
            <a:off x="14112158" y="1103941"/>
            <a:ext cx="1859372" cy="2537604"/>
          </a:xfrm>
          <a:custGeom>
            <a:avLst/>
            <a:gdLst/>
            <a:ahLst/>
            <a:cxnLst/>
            <a:rect r="r" b="b" t="t" l="l"/>
            <a:pathLst>
              <a:path h="2537604" w="1859372">
                <a:moveTo>
                  <a:pt x="0" y="0"/>
                </a:moveTo>
                <a:lnTo>
                  <a:pt x="1859372" y="0"/>
                </a:lnTo>
                <a:lnTo>
                  <a:pt x="1859372" y="2537604"/>
                </a:lnTo>
                <a:lnTo>
                  <a:pt x="0" y="25376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34757" y="1845515"/>
            <a:ext cx="14742175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00"/>
              </a:lnSpc>
            </a:pPr>
            <a:r>
              <a:rPr lang="en-US" sz="12000">
                <a:solidFill>
                  <a:srgbClr val="FFD034"/>
                </a:solidFill>
                <a:latin typeface="TC October"/>
                <a:ea typeface="TC October"/>
                <a:cs typeface="TC October"/>
                <a:sym typeface="TC October"/>
              </a:rPr>
              <a:t>TARGET AUDIENCE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048281" y="5088622"/>
            <a:ext cx="84286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80" indent="-453390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STUDENTS</a:t>
            </a:r>
          </a:p>
          <a:p>
            <a:pPr algn="l" marL="906780" indent="-453390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ELDERLY PEOPLE</a:t>
            </a:r>
          </a:p>
          <a:p>
            <a:pPr algn="l" marL="906780" indent="-453390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FAMILIES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61361">
            <a:off x="16185435" y="7463133"/>
            <a:ext cx="2147730" cy="2132110"/>
          </a:xfrm>
          <a:custGeom>
            <a:avLst/>
            <a:gdLst/>
            <a:ahLst/>
            <a:cxnLst/>
            <a:rect r="r" b="b" t="t" l="l"/>
            <a:pathLst>
              <a:path h="2132110" w="2147730">
                <a:moveTo>
                  <a:pt x="0" y="0"/>
                </a:moveTo>
                <a:lnTo>
                  <a:pt x="2147730" y="0"/>
                </a:lnTo>
                <a:lnTo>
                  <a:pt x="2147730" y="2132111"/>
                </a:lnTo>
                <a:lnTo>
                  <a:pt x="0" y="21321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33028">
            <a:off x="15703405" y="6002931"/>
            <a:ext cx="1422578" cy="1412232"/>
          </a:xfrm>
          <a:custGeom>
            <a:avLst/>
            <a:gdLst/>
            <a:ahLst/>
            <a:cxnLst/>
            <a:rect r="r" b="b" t="t" l="l"/>
            <a:pathLst>
              <a:path h="1412232" w="1422578">
                <a:moveTo>
                  <a:pt x="0" y="0"/>
                </a:moveTo>
                <a:lnTo>
                  <a:pt x="1422578" y="0"/>
                </a:lnTo>
                <a:lnTo>
                  <a:pt x="1422578" y="1412232"/>
                </a:lnTo>
                <a:lnTo>
                  <a:pt x="0" y="14122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6256" y="1279353"/>
            <a:ext cx="3860431" cy="4114800"/>
          </a:xfrm>
          <a:custGeom>
            <a:avLst/>
            <a:gdLst/>
            <a:ahLst/>
            <a:cxnLst/>
            <a:rect r="r" b="b" t="t" l="l"/>
            <a:pathLst>
              <a:path h="4114800" w="3860431">
                <a:moveTo>
                  <a:pt x="0" y="0"/>
                </a:moveTo>
                <a:lnTo>
                  <a:pt x="3860430" y="0"/>
                </a:lnTo>
                <a:lnTo>
                  <a:pt x="3860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006686" y="1409700"/>
            <a:ext cx="12100238" cy="1496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71"/>
              </a:lnSpc>
            </a:pPr>
            <a:r>
              <a:rPr lang="en-US" sz="12319">
                <a:solidFill>
                  <a:srgbClr val="FFD034"/>
                </a:solidFill>
                <a:latin typeface="TC October"/>
                <a:ea typeface="TC October"/>
                <a:cs typeface="TC October"/>
                <a:sym typeface="TC October"/>
              </a:rPr>
              <a:t>WEBSITE GOALS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00392" y="3634789"/>
            <a:ext cx="12912827" cy="446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The mai</a:t>
            </a:r>
            <a:r>
              <a:rPr lang="en-US" sz="42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n goals of the website are to improve the organisation's:</a:t>
            </a:r>
          </a:p>
          <a:p>
            <a:pPr algn="l" marL="906780" indent="-453390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Visibility </a:t>
            </a:r>
            <a:r>
              <a:rPr lang="en-US" sz="42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online through SEO</a:t>
            </a:r>
          </a:p>
          <a:p>
            <a:pPr algn="l" marL="906780" indent="-453390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Make the information easy for users to understand </a:t>
            </a:r>
          </a:p>
          <a:p>
            <a:pPr algn="l" marL="906780" indent="-453390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Create a user-friendly</a:t>
            </a:r>
            <a:r>
              <a:rPr lang="en-US" sz="42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 experience that encourages new patients to book appointments.</a:t>
            </a: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24127">
            <a:off x="1569639" y="4632899"/>
            <a:ext cx="3862136" cy="3841070"/>
          </a:xfrm>
          <a:custGeom>
            <a:avLst/>
            <a:gdLst/>
            <a:ahLst/>
            <a:cxnLst/>
            <a:rect r="r" b="b" t="t" l="l"/>
            <a:pathLst>
              <a:path h="3841070" w="3862136">
                <a:moveTo>
                  <a:pt x="0" y="0"/>
                </a:moveTo>
                <a:lnTo>
                  <a:pt x="3862135" y="0"/>
                </a:lnTo>
                <a:lnTo>
                  <a:pt x="3862135" y="3841070"/>
                </a:lnTo>
                <a:lnTo>
                  <a:pt x="0" y="38410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938935" y="4885699"/>
            <a:ext cx="4979152" cy="4372601"/>
          </a:xfrm>
          <a:custGeom>
            <a:avLst/>
            <a:gdLst/>
            <a:ahLst/>
            <a:cxnLst/>
            <a:rect r="r" b="b" t="t" l="l"/>
            <a:pathLst>
              <a:path h="4372601" w="4979152">
                <a:moveTo>
                  <a:pt x="0" y="0"/>
                </a:moveTo>
                <a:lnTo>
                  <a:pt x="4979152" y="0"/>
                </a:lnTo>
                <a:lnTo>
                  <a:pt x="4979152" y="4372601"/>
                </a:lnTo>
                <a:lnTo>
                  <a:pt x="0" y="43726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10018">
            <a:off x="4166006" y="4473057"/>
            <a:ext cx="1840688" cy="1827301"/>
          </a:xfrm>
          <a:custGeom>
            <a:avLst/>
            <a:gdLst/>
            <a:ahLst/>
            <a:cxnLst/>
            <a:rect r="r" b="b" t="t" l="l"/>
            <a:pathLst>
              <a:path h="1827301" w="1840688">
                <a:moveTo>
                  <a:pt x="0" y="0"/>
                </a:moveTo>
                <a:lnTo>
                  <a:pt x="1840688" y="0"/>
                </a:lnTo>
                <a:lnTo>
                  <a:pt x="1840688" y="1827301"/>
                </a:lnTo>
                <a:lnTo>
                  <a:pt x="0" y="18273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94310" y="828049"/>
            <a:ext cx="8649690" cy="405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00"/>
              </a:lnSpc>
            </a:pPr>
            <a:r>
              <a:rPr lang="en-US" sz="12000">
                <a:solidFill>
                  <a:srgbClr val="FFD034"/>
                </a:solidFill>
                <a:latin typeface="TC October"/>
                <a:ea typeface="TC October"/>
                <a:cs typeface="TC October"/>
                <a:sym typeface="TC October"/>
              </a:rPr>
              <a:t>KEY PERFORMANCE INDICATORS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84985" y="233911"/>
            <a:ext cx="6216210" cy="1942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2279" indent="-461139" lvl="1">
              <a:lnSpc>
                <a:spcPts val="5126"/>
              </a:lnSpc>
              <a:buFont typeface="Arial"/>
              <a:buChar char="•"/>
            </a:pPr>
            <a:r>
              <a:rPr lang="en-US" sz="4271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TRACK HOW MANY PATIENTS MAKE APPOINTMENTS AFTER VISITING WEBSITE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20873" y="2310532"/>
            <a:ext cx="6473266" cy="3363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60417" indent="-480209" lvl="1">
              <a:lnSpc>
                <a:spcPts val="5338"/>
              </a:lnSpc>
              <a:buFont typeface="Arial"/>
              <a:buChar char="•"/>
            </a:pPr>
            <a:r>
              <a:rPr lang="en-US" sz="4448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MONITOR APPOINTMENT NO-SHOWS, HELPS THE ORGANISATION IDENTIFY WEAKNESS IN BUSINESS THAT WILL HELP THEM IMPROVE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85382" y="5817331"/>
            <a:ext cx="6144248" cy="4457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1602" indent="-455801" lvl="1">
              <a:lnSpc>
                <a:spcPts val="5066"/>
              </a:lnSpc>
              <a:buFont typeface="Arial"/>
              <a:buChar char="•"/>
            </a:pPr>
            <a:r>
              <a:rPr lang="en-US" sz="4222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IDENTIFYING THE DENTISTRY'S BUSINESS COSTS, WHICH CAN HELP THE BUSINESS UNDERSTAND WHERE ITS MONEY IS BEING SPENT AND ALLOCATE ITS FUNDS MORE EFFECTIVELY.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042674" y="3447940"/>
            <a:ext cx="4216626" cy="4434311"/>
          </a:xfrm>
          <a:custGeom>
            <a:avLst/>
            <a:gdLst/>
            <a:ahLst/>
            <a:cxnLst/>
            <a:rect r="r" b="b" t="t" l="l"/>
            <a:pathLst>
              <a:path h="4434311" w="4216626">
                <a:moveTo>
                  <a:pt x="0" y="0"/>
                </a:moveTo>
                <a:lnTo>
                  <a:pt x="4216626" y="0"/>
                </a:lnTo>
                <a:lnTo>
                  <a:pt x="4216626" y="4434311"/>
                </a:lnTo>
                <a:lnTo>
                  <a:pt x="0" y="44343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96291" y="1212520"/>
            <a:ext cx="16230600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00"/>
              </a:lnSpc>
            </a:pPr>
            <a:r>
              <a:rPr lang="en-US" sz="12000">
                <a:solidFill>
                  <a:srgbClr val="FFD034"/>
                </a:solidFill>
                <a:latin typeface="TC October"/>
                <a:ea typeface="TC October"/>
                <a:cs typeface="TC October"/>
                <a:sym typeface="TC October"/>
              </a:rPr>
              <a:t>PROPOSED FEATURES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447940"/>
            <a:ext cx="5936457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6320" indent="-518160" lvl="1">
              <a:lnSpc>
                <a:spcPts val="5759"/>
              </a:lnSpc>
              <a:buAutoNum type="arabicPeriod" startAt="1"/>
            </a:pPr>
            <a:r>
              <a:rPr lang="en-US" sz="48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LANDING PAGE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57644" y="3447940"/>
            <a:ext cx="6161242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6320" indent="-518160" lvl="1">
              <a:lnSpc>
                <a:spcPts val="5759"/>
              </a:lnSpc>
              <a:buAutoNum type="arabicPeriod" startAt="1"/>
            </a:pPr>
            <a:r>
              <a:rPr lang="en-US" sz="48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ABOUT US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192058"/>
            <a:ext cx="5936457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6320" indent="-518160" lvl="1">
              <a:lnSpc>
                <a:spcPts val="5759"/>
              </a:lnSpc>
              <a:buAutoNum type="arabicPeriod" startAt="1"/>
            </a:pPr>
            <a:r>
              <a:rPr lang="en-US" sz="48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SERVICES PAGE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57644" y="5192058"/>
            <a:ext cx="6161242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6320" indent="-518160" lvl="1">
              <a:lnSpc>
                <a:spcPts val="5759"/>
              </a:lnSpc>
              <a:buAutoNum type="arabicPeriod" startAt="1"/>
            </a:pPr>
            <a:r>
              <a:rPr lang="en-US" sz="48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TESTIMONIALS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745180" y="6506508"/>
            <a:ext cx="6161242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6320" indent="-518160" lvl="1">
              <a:lnSpc>
                <a:spcPts val="5759"/>
              </a:lnSpc>
              <a:buAutoNum type="arabicPeriod" startAt="1"/>
            </a:pPr>
            <a:r>
              <a:rPr lang="en-US" sz="48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ONLIN</a:t>
            </a:r>
            <a:r>
              <a:rPr lang="en-US" sz="48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E APPOINTMENT BOOKING PAGE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042674" y="3447940"/>
            <a:ext cx="4216626" cy="4434311"/>
          </a:xfrm>
          <a:custGeom>
            <a:avLst/>
            <a:gdLst/>
            <a:ahLst/>
            <a:cxnLst/>
            <a:rect r="r" b="b" t="t" l="l"/>
            <a:pathLst>
              <a:path h="4434311" w="4216626">
                <a:moveTo>
                  <a:pt x="0" y="0"/>
                </a:moveTo>
                <a:lnTo>
                  <a:pt x="4216626" y="0"/>
                </a:lnTo>
                <a:lnTo>
                  <a:pt x="4216626" y="4434311"/>
                </a:lnTo>
                <a:lnTo>
                  <a:pt x="0" y="44343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96291" y="1212520"/>
            <a:ext cx="16230600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00"/>
              </a:lnSpc>
            </a:pPr>
            <a:r>
              <a:rPr lang="en-US" sz="12000">
                <a:solidFill>
                  <a:srgbClr val="FFD034"/>
                </a:solidFill>
                <a:latin typeface="TC October"/>
                <a:ea typeface="TC October"/>
                <a:cs typeface="TC October"/>
                <a:sym typeface="TC October"/>
              </a:rPr>
              <a:t>DESIGN &amp; U</a:t>
            </a:r>
            <a:r>
              <a:rPr lang="en-US" sz="12000">
                <a:solidFill>
                  <a:srgbClr val="FFD034"/>
                </a:solidFill>
                <a:latin typeface="TC October"/>
                <a:ea typeface="TC October"/>
                <a:cs typeface="TC October"/>
                <a:sym typeface="TC October"/>
              </a:rPr>
              <a:t>SER EXPERIENCE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96291" y="2952393"/>
            <a:ext cx="5936457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COLOR THEME: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96291" y="3885843"/>
            <a:ext cx="647096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Soft Green Tones For Calmness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96291" y="4781550"/>
            <a:ext cx="5936457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TYPOGRAPHY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96291" y="5753100"/>
            <a:ext cx="409384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Raleway and Mulish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68192" y="6868461"/>
            <a:ext cx="797893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User Experience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: Friendly and Simple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004990"/>
            <a:ext cx="15709967" cy="4853362"/>
          </a:xfrm>
          <a:custGeom>
            <a:avLst/>
            <a:gdLst/>
            <a:ahLst/>
            <a:cxnLst/>
            <a:rect r="r" b="b" t="t" l="l"/>
            <a:pathLst>
              <a:path h="4853362" w="15709967">
                <a:moveTo>
                  <a:pt x="0" y="0"/>
                </a:moveTo>
                <a:lnTo>
                  <a:pt x="15709967" y="0"/>
                </a:lnTo>
                <a:lnTo>
                  <a:pt x="15709967" y="4853362"/>
                </a:lnTo>
                <a:lnTo>
                  <a:pt x="0" y="48533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138" r="0" b="-913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12724" y="476250"/>
            <a:ext cx="16230600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00"/>
              </a:lnSpc>
            </a:pPr>
            <a:r>
              <a:rPr lang="en-US" sz="12000">
                <a:solidFill>
                  <a:srgbClr val="FFD034"/>
                </a:solidFill>
                <a:latin typeface="TC October"/>
                <a:ea typeface="TC October"/>
                <a:cs typeface="TC October"/>
                <a:sym typeface="TC October"/>
              </a:rPr>
              <a:t>WIREFRAMES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4587" y="3375507"/>
            <a:ext cx="6563694" cy="5978928"/>
          </a:xfrm>
          <a:custGeom>
            <a:avLst/>
            <a:gdLst/>
            <a:ahLst/>
            <a:cxnLst/>
            <a:rect r="r" b="b" t="t" l="l"/>
            <a:pathLst>
              <a:path h="5978928" w="6563694">
                <a:moveTo>
                  <a:pt x="0" y="0"/>
                </a:moveTo>
                <a:lnTo>
                  <a:pt x="6563694" y="0"/>
                </a:lnTo>
                <a:lnTo>
                  <a:pt x="6563694" y="5978929"/>
                </a:lnTo>
                <a:lnTo>
                  <a:pt x="0" y="59789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51254">
            <a:off x="14112158" y="1103941"/>
            <a:ext cx="1859372" cy="2537604"/>
          </a:xfrm>
          <a:custGeom>
            <a:avLst/>
            <a:gdLst/>
            <a:ahLst/>
            <a:cxnLst/>
            <a:rect r="r" b="b" t="t" l="l"/>
            <a:pathLst>
              <a:path h="2537604" w="1859372">
                <a:moveTo>
                  <a:pt x="0" y="0"/>
                </a:moveTo>
                <a:lnTo>
                  <a:pt x="1859372" y="0"/>
                </a:lnTo>
                <a:lnTo>
                  <a:pt x="1859372" y="2537604"/>
                </a:lnTo>
                <a:lnTo>
                  <a:pt x="0" y="25376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34757" y="1845515"/>
            <a:ext cx="14742175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00"/>
              </a:lnSpc>
            </a:pPr>
            <a:r>
              <a:rPr lang="en-US" sz="12000">
                <a:solidFill>
                  <a:srgbClr val="FFD034"/>
                </a:solidFill>
                <a:latin typeface="TC October"/>
                <a:ea typeface="TC October"/>
                <a:cs typeface="TC October"/>
                <a:sym typeface="TC October"/>
              </a:rPr>
              <a:t>TECHNOLOGY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30516" y="4590701"/>
            <a:ext cx="8428651" cy="446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80" indent="-453390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HTML</a:t>
            </a:r>
          </a:p>
          <a:p>
            <a:pPr algn="l" marL="906780" indent="-453390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CSS</a:t>
            </a:r>
          </a:p>
          <a:p>
            <a:pPr algn="l">
              <a:lnSpc>
                <a:spcPts val="5040"/>
              </a:lnSpc>
            </a:pPr>
          </a:p>
          <a:p>
            <a:pPr algn="l" marL="906780" indent="-453390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NODE.JS</a:t>
            </a:r>
          </a:p>
          <a:p>
            <a:pPr algn="l" marL="906780" indent="-453390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SQL</a:t>
            </a:r>
          </a:p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HOSTING &amp; DOMAIN </a:t>
            </a:r>
          </a:p>
          <a:p>
            <a:pPr algn="l" marL="906780" indent="-453390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HOSTAFRICA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30516" y="3876961"/>
            <a:ext cx="251841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FRONTEND: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672915" y="5924836"/>
            <a:ext cx="223361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BACKEND: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71374" y="241602"/>
            <a:ext cx="4216626" cy="4434311"/>
          </a:xfrm>
          <a:custGeom>
            <a:avLst/>
            <a:gdLst/>
            <a:ahLst/>
            <a:cxnLst/>
            <a:rect r="r" b="b" t="t" l="l"/>
            <a:pathLst>
              <a:path h="4434311" w="4216626">
                <a:moveTo>
                  <a:pt x="0" y="0"/>
                </a:moveTo>
                <a:lnTo>
                  <a:pt x="4216626" y="0"/>
                </a:lnTo>
                <a:lnTo>
                  <a:pt x="4216626" y="4434311"/>
                </a:lnTo>
                <a:lnTo>
                  <a:pt x="0" y="44343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96291" y="3139541"/>
            <a:ext cx="12369046" cy="4631378"/>
          </a:xfrm>
          <a:custGeom>
            <a:avLst/>
            <a:gdLst/>
            <a:ahLst/>
            <a:cxnLst/>
            <a:rect r="r" b="b" t="t" l="l"/>
            <a:pathLst>
              <a:path h="4631378" w="12369046">
                <a:moveTo>
                  <a:pt x="0" y="0"/>
                </a:moveTo>
                <a:lnTo>
                  <a:pt x="12369046" y="0"/>
                </a:lnTo>
                <a:lnTo>
                  <a:pt x="12369046" y="4631379"/>
                </a:lnTo>
                <a:lnTo>
                  <a:pt x="0" y="46313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389" t="0" r="-1389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96291" y="1212520"/>
            <a:ext cx="16230600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00"/>
              </a:lnSpc>
            </a:pPr>
            <a:r>
              <a:rPr lang="en-US" sz="12000">
                <a:solidFill>
                  <a:srgbClr val="FFD034"/>
                </a:solidFill>
                <a:latin typeface="TC October"/>
                <a:ea typeface="TC October"/>
                <a:cs typeface="TC October"/>
                <a:sym typeface="TC October"/>
              </a:rPr>
              <a:t>BUDGET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83295">
            <a:off x="14376510" y="371876"/>
            <a:ext cx="2631479" cy="2526220"/>
          </a:xfrm>
          <a:custGeom>
            <a:avLst/>
            <a:gdLst/>
            <a:ahLst/>
            <a:cxnLst/>
            <a:rect r="r" b="b" t="t" l="l"/>
            <a:pathLst>
              <a:path h="2526220" w="2631479">
                <a:moveTo>
                  <a:pt x="0" y="0"/>
                </a:moveTo>
                <a:lnTo>
                  <a:pt x="2631479" y="0"/>
                </a:lnTo>
                <a:lnTo>
                  <a:pt x="2631479" y="2526220"/>
                </a:lnTo>
                <a:lnTo>
                  <a:pt x="0" y="2526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51587">
            <a:off x="582128" y="261774"/>
            <a:ext cx="3489206" cy="2639108"/>
          </a:xfrm>
          <a:custGeom>
            <a:avLst/>
            <a:gdLst/>
            <a:ahLst/>
            <a:cxnLst/>
            <a:rect r="r" b="b" t="t" l="l"/>
            <a:pathLst>
              <a:path h="2639108" w="3489206">
                <a:moveTo>
                  <a:pt x="0" y="0"/>
                </a:moveTo>
                <a:lnTo>
                  <a:pt x="3489206" y="0"/>
                </a:lnTo>
                <a:lnTo>
                  <a:pt x="3489206" y="2639108"/>
                </a:lnTo>
                <a:lnTo>
                  <a:pt x="0" y="26391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263420">
            <a:off x="4434211" y="4127517"/>
            <a:ext cx="1071064" cy="979537"/>
          </a:xfrm>
          <a:custGeom>
            <a:avLst/>
            <a:gdLst/>
            <a:ahLst/>
            <a:cxnLst/>
            <a:rect r="r" b="b" t="t" l="l"/>
            <a:pathLst>
              <a:path h="979537" w="1071064">
                <a:moveTo>
                  <a:pt x="0" y="0"/>
                </a:moveTo>
                <a:lnTo>
                  <a:pt x="1071064" y="0"/>
                </a:lnTo>
                <a:lnTo>
                  <a:pt x="1071064" y="979537"/>
                </a:lnTo>
                <a:lnTo>
                  <a:pt x="0" y="97953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444072">
            <a:off x="8881006" y="4119558"/>
            <a:ext cx="1303570" cy="995453"/>
          </a:xfrm>
          <a:custGeom>
            <a:avLst/>
            <a:gdLst/>
            <a:ahLst/>
            <a:cxnLst/>
            <a:rect r="r" b="b" t="t" l="l"/>
            <a:pathLst>
              <a:path h="995453" w="1303570">
                <a:moveTo>
                  <a:pt x="0" y="0"/>
                </a:moveTo>
                <a:lnTo>
                  <a:pt x="1303570" y="0"/>
                </a:lnTo>
                <a:lnTo>
                  <a:pt x="1303570" y="995454"/>
                </a:lnTo>
                <a:lnTo>
                  <a:pt x="0" y="99545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724814" y="361950"/>
            <a:ext cx="10919883" cy="276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00"/>
              </a:lnSpc>
            </a:pPr>
            <a:r>
              <a:rPr lang="en-US" sz="12000">
                <a:solidFill>
                  <a:srgbClr val="FFD034"/>
                </a:solidFill>
                <a:latin typeface="TC October"/>
                <a:ea typeface="TC October"/>
                <a:cs typeface="TC October"/>
                <a:sym typeface="TC October"/>
              </a:rPr>
              <a:t>TIMELINES &amp; MILESTONES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93721" y="5593469"/>
            <a:ext cx="4707811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Planning and Research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01532" y="5727753"/>
            <a:ext cx="4707811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Website Development Stage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75746" y="5727753"/>
            <a:ext cx="4707811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Testing and Debugging Stage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93721" y="4781550"/>
            <a:ext cx="4707811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PHASE 1 (2 WEEKS)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101532" y="4781550"/>
            <a:ext cx="4707811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PHASE 2 (4 WEEKS)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34165" y="4781550"/>
            <a:ext cx="4707811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PHASE 3 (2 WEEK)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964049" y="4781550"/>
            <a:ext cx="4707811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PHASE 3 (2 WEEK)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724737" y="5727753"/>
            <a:ext cx="4707811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Deployment Stage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-2444072">
            <a:off x="13556838" y="4119558"/>
            <a:ext cx="1303570" cy="995453"/>
          </a:xfrm>
          <a:custGeom>
            <a:avLst/>
            <a:gdLst/>
            <a:ahLst/>
            <a:cxnLst/>
            <a:rect r="r" b="b" t="t" l="l"/>
            <a:pathLst>
              <a:path h="995453" w="1303570">
                <a:moveTo>
                  <a:pt x="0" y="0"/>
                </a:moveTo>
                <a:lnTo>
                  <a:pt x="1303570" y="0"/>
                </a:lnTo>
                <a:lnTo>
                  <a:pt x="1303570" y="995454"/>
                </a:lnTo>
                <a:lnTo>
                  <a:pt x="0" y="99545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61361">
            <a:off x="16185435" y="7463133"/>
            <a:ext cx="2147730" cy="2132110"/>
          </a:xfrm>
          <a:custGeom>
            <a:avLst/>
            <a:gdLst/>
            <a:ahLst/>
            <a:cxnLst/>
            <a:rect r="r" b="b" t="t" l="l"/>
            <a:pathLst>
              <a:path h="2132110" w="2147730">
                <a:moveTo>
                  <a:pt x="0" y="0"/>
                </a:moveTo>
                <a:lnTo>
                  <a:pt x="2147730" y="0"/>
                </a:lnTo>
                <a:lnTo>
                  <a:pt x="2147730" y="2132111"/>
                </a:lnTo>
                <a:lnTo>
                  <a:pt x="0" y="21321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33028">
            <a:off x="15703405" y="6002931"/>
            <a:ext cx="1422578" cy="1412232"/>
          </a:xfrm>
          <a:custGeom>
            <a:avLst/>
            <a:gdLst/>
            <a:ahLst/>
            <a:cxnLst/>
            <a:rect r="r" b="b" t="t" l="l"/>
            <a:pathLst>
              <a:path h="1412232" w="1422578">
                <a:moveTo>
                  <a:pt x="0" y="0"/>
                </a:moveTo>
                <a:lnTo>
                  <a:pt x="1422578" y="0"/>
                </a:lnTo>
                <a:lnTo>
                  <a:pt x="1422578" y="1412232"/>
                </a:lnTo>
                <a:lnTo>
                  <a:pt x="0" y="14122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6256" y="1279353"/>
            <a:ext cx="3860431" cy="4114800"/>
          </a:xfrm>
          <a:custGeom>
            <a:avLst/>
            <a:gdLst/>
            <a:ahLst/>
            <a:cxnLst/>
            <a:rect r="r" b="b" t="t" l="l"/>
            <a:pathLst>
              <a:path h="4114800" w="3860431">
                <a:moveTo>
                  <a:pt x="0" y="0"/>
                </a:moveTo>
                <a:lnTo>
                  <a:pt x="3860430" y="0"/>
                </a:lnTo>
                <a:lnTo>
                  <a:pt x="3860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902288" y="3990886"/>
            <a:ext cx="12309035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ORGANISATION OVERVIEW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006686" y="1409700"/>
            <a:ext cx="12100238" cy="2826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71"/>
              </a:lnSpc>
            </a:pPr>
            <a:r>
              <a:rPr lang="en-US" sz="12319">
                <a:solidFill>
                  <a:srgbClr val="FFD034"/>
                </a:solidFill>
                <a:latin typeface="TC October"/>
                <a:ea typeface="TC October"/>
                <a:cs typeface="TC October"/>
                <a:sym typeface="TC October"/>
              </a:rPr>
              <a:t>MZANSI WATER DRILLING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06686" y="4765739"/>
            <a:ext cx="12912827" cy="255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80" indent="-453390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Mza</a:t>
            </a:r>
            <a:r>
              <a:rPr lang="en-US" sz="42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nsi Water Drilling is a small business that provides borehole and water-drilling serv</a:t>
            </a:r>
            <a:r>
              <a:rPr lang="en-US" sz="42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ices.</a:t>
            </a:r>
          </a:p>
          <a:p>
            <a:pPr algn="l" marL="906780" indent="-453390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The business was founded by Tebogo Mohajane in 2020.</a:t>
            </a:r>
          </a:p>
          <a:p>
            <a:pPr algn="l">
              <a:lnSpc>
                <a:spcPts val="5040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867750">
            <a:off x="732068" y="1360301"/>
            <a:ext cx="3009596" cy="2790716"/>
          </a:xfrm>
          <a:custGeom>
            <a:avLst/>
            <a:gdLst/>
            <a:ahLst/>
            <a:cxnLst/>
            <a:rect r="r" b="b" t="t" l="l"/>
            <a:pathLst>
              <a:path h="2790716" w="3009596">
                <a:moveTo>
                  <a:pt x="0" y="0"/>
                </a:moveTo>
                <a:lnTo>
                  <a:pt x="3009596" y="0"/>
                </a:lnTo>
                <a:lnTo>
                  <a:pt x="3009596" y="2790716"/>
                </a:lnTo>
                <a:lnTo>
                  <a:pt x="0" y="27907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96892">
            <a:off x="14420974" y="1222213"/>
            <a:ext cx="2896276" cy="2891010"/>
          </a:xfrm>
          <a:custGeom>
            <a:avLst/>
            <a:gdLst/>
            <a:ahLst/>
            <a:cxnLst/>
            <a:rect r="r" b="b" t="t" l="l"/>
            <a:pathLst>
              <a:path h="2891010" w="2896276">
                <a:moveTo>
                  <a:pt x="0" y="0"/>
                </a:moveTo>
                <a:lnTo>
                  <a:pt x="2896276" y="0"/>
                </a:lnTo>
                <a:lnTo>
                  <a:pt x="2896276" y="2891010"/>
                </a:lnTo>
                <a:lnTo>
                  <a:pt x="0" y="28910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582068" y="2092317"/>
            <a:ext cx="5018447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00"/>
              </a:lnSpc>
            </a:pPr>
            <a:r>
              <a:rPr lang="en-US" sz="12000">
                <a:solidFill>
                  <a:srgbClr val="FFD034"/>
                </a:solidFill>
                <a:latin typeface="TC October"/>
                <a:ea typeface="TC October"/>
                <a:cs typeface="TC October"/>
                <a:sym typeface="TC October"/>
              </a:rPr>
              <a:t>MISSION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97002" y="2203209"/>
            <a:ext cx="4630865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200"/>
              </a:lnSpc>
            </a:pPr>
            <a:r>
              <a:rPr lang="en-US" sz="12000">
                <a:solidFill>
                  <a:srgbClr val="FFD034"/>
                </a:solidFill>
                <a:latin typeface="TC October"/>
                <a:ea typeface="TC October"/>
                <a:cs typeface="TC October"/>
                <a:sym typeface="TC October"/>
              </a:rPr>
              <a:t>VISION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18836" y="3905943"/>
            <a:ext cx="6478167" cy="434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T</a:t>
            </a:r>
            <a:r>
              <a:rPr lang="en-US" sz="48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HE MISSION OF MZANSI WATER DRILLING IS TO OFFER RELIABLE AND SUSTAINABLE WATER SOLUTIONS THAT IMPROVE ACCESS TO WATER FOR COMMUNITIES, HOMES AND BUSINESSES.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15847" y="3905943"/>
            <a:ext cx="6478167" cy="289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THE VISION IS TO EMPOWER COMMUNITIES THROUGH ACCESSIBLE, RELIABLE AND SUSTAINABLE WATER SOLUTIONS.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4587" y="3375507"/>
            <a:ext cx="6563694" cy="5978928"/>
          </a:xfrm>
          <a:custGeom>
            <a:avLst/>
            <a:gdLst/>
            <a:ahLst/>
            <a:cxnLst/>
            <a:rect r="r" b="b" t="t" l="l"/>
            <a:pathLst>
              <a:path h="5978928" w="6563694">
                <a:moveTo>
                  <a:pt x="0" y="0"/>
                </a:moveTo>
                <a:lnTo>
                  <a:pt x="6563694" y="0"/>
                </a:lnTo>
                <a:lnTo>
                  <a:pt x="6563694" y="5978929"/>
                </a:lnTo>
                <a:lnTo>
                  <a:pt x="0" y="59789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51254">
            <a:off x="14112158" y="1103941"/>
            <a:ext cx="1859372" cy="2537604"/>
          </a:xfrm>
          <a:custGeom>
            <a:avLst/>
            <a:gdLst/>
            <a:ahLst/>
            <a:cxnLst/>
            <a:rect r="r" b="b" t="t" l="l"/>
            <a:pathLst>
              <a:path h="2537604" w="1859372">
                <a:moveTo>
                  <a:pt x="0" y="0"/>
                </a:moveTo>
                <a:lnTo>
                  <a:pt x="1859372" y="0"/>
                </a:lnTo>
                <a:lnTo>
                  <a:pt x="1859372" y="2537604"/>
                </a:lnTo>
                <a:lnTo>
                  <a:pt x="0" y="25376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34757" y="1845515"/>
            <a:ext cx="14742175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00"/>
              </a:lnSpc>
            </a:pPr>
            <a:r>
              <a:rPr lang="en-US" sz="12000">
                <a:solidFill>
                  <a:srgbClr val="FFD034"/>
                </a:solidFill>
                <a:latin typeface="TC October"/>
                <a:ea typeface="TC October"/>
                <a:cs typeface="TC October"/>
                <a:sym typeface="TC October"/>
              </a:rPr>
              <a:t>TARGET AUDIENCE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048281" y="5088622"/>
            <a:ext cx="8428651" cy="3201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80" indent="-453390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HOMEOWNERS</a:t>
            </a:r>
          </a:p>
          <a:p>
            <a:pPr algn="l" marL="906780" indent="-453390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BUSINESS OWNERS</a:t>
            </a:r>
          </a:p>
          <a:p>
            <a:pPr algn="l" marL="906780" indent="-453390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GOVERNMENT SCHOOLS</a:t>
            </a:r>
          </a:p>
          <a:p>
            <a:pPr algn="l" marL="906780" indent="-453390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MALLS</a:t>
            </a:r>
          </a:p>
          <a:p>
            <a:pPr algn="l" marL="906780" indent="-453390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GOVERNMENT OWNED PROPERTIES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61361">
            <a:off x="16185435" y="7463133"/>
            <a:ext cx="2147730" cy="2132110"/>
          </a:xfrm>
          <a:custGeom>
            <a:avLst/>
            <a:gdLst/>
            <a:ahLst/>
            <a:cxnLst/>
            <a:rect r="r" b="b" t="t" l="l"/>
            <a:pathLst>
              <a:path h="2132110" w="2147730">
                <a:moveTo>
                  <a:pt x="0" y="0"/>
                </a:moveTo>
                <a:lnTo>
                  <a:pt x="2147730" y="0"/>
                </a:lnTo>
                <a:lnTo>
                  <a:pt x="2147730" y="2132111"/>
                </a:lnTo>
                <a:lnTo>
                  <a:pt x="0" y="21321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33028">
            <a:off x="15703405" y="6002931"/>
            <a:ext cx="1422578" cy="1412232"/>
          </a:xfrm>
          <a:custGeom>
            <a:avLst/>
            <a:gdLst/>
            <a:ahLst/>
            <a:cxnLst/>
            <a:rect r="r" b="b" t="t" l="l"/>
            <a:pathLst>
              <a:path h="1412232" w="1422578">
                <a:moveTo>
                  <a:pt x="0" y="0"/>
                </a:moveTo>
                <a:lnTo>
                  <a:pt x="1422578" y="0"/>
                </a:lnTo>
                <a:lnTo>
                  <a:pt x="1422578" y="1412232"/>
                </a:lnTo>
                <a:lnTo>
                  <a:pt x="0" y="14122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6256" y="1279353"/>
            <a:ext cx="3860431" cy="4114800"/>
          </a:xfrm>
          <a:custGeom>
            <a:avLst/>
            <a:gdLst/>
            <a:ahLst/>
            <a:cxnLst/>
            <a:rect r="r" b="b" t="t" l="l"/>
            <a:pathLst>
              <a:path h="4114800" w="3860431">
                <a:moveTo>
                  <a:pt x="0" y="0"/>
                </a:moveTo>
                <a:lnTo>
                  <a:pt x="3860430" y="0"/>
                </a:lnTo>
                <a:lnTo>
                  <a:pt x="3860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006686" y="1409700"/>
            <a:ext cx="12100238" cy="1496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71"/>
              </a:lnSpc>
            </a:pPr>
            <a:r>
              <a:rPr lang="en-US" sz="12319">
                <a:solidFill>
                  <a:srgbClr val="FFD034"/>
                </a:solidFill>
                <a:latin typeface="TC October"/>
                <a:ea typeface="TC October"/>
                <a:cs typeface="TC October"/>
                <a:sym typeface="TC October"/>
              </a:rPr>
              <a:t>WEBSITE GOALS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00392" y="3634789"/>
            <a:ext cx="12912827" cy="382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The main goals of the Mzansi Water Drilling website are:</a:t>
            </a:r>
          </a:p>
          <a:p>
            <a:pPr algn="l" marL="906780" indent="-453390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Improve visibility </a:t>
            </a:r>
            <a:r>
              <a:rPr lang="en-US" sz="42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online through SEO</a:t>
            </a:r>
          </a:p>
          <a:p>
            <a:pPr algn="l" marL="906780" indent="-453390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Make communication with customers easier</a:t>
            </a:r>
          </a:p>
          <a:p>
            <a:pPr algn="l" marL="906780" indent="-453390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Clearly display the services</a:t>
            </a:r>
            <a:r>
              <a:rPr lang="en-US" sz="42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 offered and increase website traffic.</a:t>
            </a: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24127">
            <a:off x="1569639" y="4632899"/>
            <a:ext cx="3862136" cy="3841070"/>
          </a:xfrm>
          <a:custGeom>
            <a:avLst/>
            <a:gdLst/>
            <a:ahLst/>
            <a:cxnLst/>
            <a:rect r="r" b="b" t="t" l="l"/>
            <a:pathLst>
              <a:path h="3841070" w="3862136">
                <a:moveTo>
                  <a:pt x="0" y="0"/>
                </a:moveTo>
                <a:lnTo>
                  <a:pt x="3862135" y="0"/>
                </a:lnTo>
                <a:lnTo>
                  <a:pt x="3862135" y="3841070"/>
                </a:lnTo>
                <a:lnTo>
                  <a:pt x="0" y="38410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938935" y="4885699"/>
            <a:ext cx="4979152" cy="4372601"/>
          </a:xfrm>
          <a:custGeom>
            <a:avLst/>
            <a:gdLst/>
            <a:ahLst/>
            <a:cxnLst/>
            <a:rect r="r" b="b" t="t" l="l"/>
            <a:pathLst>
              <a:path h="4372601" w="4979152">
                <a:moveTo>
                  <a:pt x="0" y="0"/>
                </a:moveTo>
                <a:lnTo>
                  <a:pt x="4979152" y="0"/>
                </a:lnTo>
                <a:lnTo>
                  <a:pt x="4979152" y="4372601"/>
                </a:lnTo>
                <a:lnTo>
                  <a:pt x="0" y="43726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10018">
            <a:off x="4166006" y="4473057"/>
            <a:ext cx="1840688" cy="1827301"/>
          </a:xfrm>
          <a:custGeom>
            <a:avLst/>
            <a:gdLst/>
            <a:ahLst/>
            <a:cxnLst/>
            <a:rect r="r" b="b" t="t" l="l"/>
            <a:pathLst>
              <a:path h="1827301" w="1840688">
                <a:moveTo>
                  <a:pt x="0" y="0"/>
                </a:moveTo>
                <a:lnTo>
                  <a:pt x="1840688" y="0"/>
                </a:lnTo>
                <a:lnTo>
                  <a:pt x="1840688" y="1827301"/>
                </a:lnTo>
                <a:lnTo>
                  <a:pt x="0" y="18273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94310" y="828049"/>
            <a:ext cx="8649690" cy="405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00"/>
              </a:lnSpc>
            </a:pPr>
            <a:r>
              <a:rPr lang="en-US" sz="12000">
                <a:solidFill>
                  <a:srgbClr val="FFD034"/>
                </a:solidFill>
                <a:latin typeface="TC October"/>
                <a:ea typeface="TC October"/>
                <a:cs typeface="TC October"/>
                <a:sym typeface="TC October"/>
              </a:rPr>
              <a:t>KEY PERFORMANCE INDICATORS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20873" y="1019175"/>
            <a:ext cx="6216210" cy="1942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2279" indent="-461139" lvl="1">
              <a:lnSpc>
                <a:spcPts val="5126"/>
              </a:lnSpc>
              <a:buFont typeface="Arial"/>
              <a:buChar char="•"/>
            </a:pPr>
            <a:r>
              <a:rPr lang="en-US" sz="4271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HAVING A CONSISTENT NUMBER OF MONTHLY WEBSITE VISITORS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20873" y="2964514"/>
            <a:ext cx="6473266" cy="1351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60417" indent="-480209" lvl="1">
              <a:lnSpc>
                <a:spcPts val="5338"/>
              </a:lnSpc>
              <a:buFont typeface="Arial"/>
              <a:buChar char="•"/>
            </a:pPr>
            <a:r>
              <a:rPr lang="en-US" sz="4448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I</a:t>
            </a:r>
            <a:r>
              <a:rPr lang="en-US" sz="4448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NCREASING THE NUMBER OF QUOTE REQUESTS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56854" y="4506719"/>
            <a:ext cx="6144248" cy="3183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1602" indent="-455801" lvl="1">
              <a:lnSpc>
                <a:spcPts val="5066"/>
              </a:lnSpc>
              <a:buFont typeface="Arial"/>
              <a:buChar char="•"/>
            </a:pPr>
            <a:r>
              <a:rPr lang="en-US" sz="4222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R</a:t>
            </a:r>
            <a:r>
              <a:rPr lang="en-US" sz="4222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ESPONDING TO CUSTOMERS WITHIN 24 HOURS</a:t>
            </a:r>
          </a:p>
          <a:p>
            <a:pPr algn="l" marL="911602" indent="-455801" lvl="1">
              <a:lnSpc>
                <a:spcPts val="5066"/>
              </a:lnSpc>
              <a:buFont typeface="Arial"/>
              <a:buChar char="•"/>
            </a:pPr>
            <a:r>
              <a:rPr lang="en-US" sz="4222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MONITORING HOW MANY PEOPLE VISIT THE SERVICE PAGES.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042674" y="3447940"/>
            <a:ext cx="4216626" cy="4434311"/>
          </a:xfrm>
          <a:custGeom>
            <a:avLst/>
            <a:gdLst/>
            <a:ahLst/>
            <a:cxnLst/>
            <a:rect r="r" b="b" t="t" l="l"/>
            <a:pathLst>
              <a:path h="4434311" w="4216626">
                <a:moveTo>
                  <a:pt x="0" y="0"/>
                </a:moveTo>
                <a:lnTo>
                  <a:pt x="4216626" y="0"/>
                </a:lnTo>
                <a:lnTo>
                  <a:pt x="4216626" y="4434311"/>
                </a:lnTo>
                <a:lnTo>
                  <a:pt x="0" y="44343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96291" y="1212520"/>
            <a:ext cx="16230600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00"/>
              </a:lnSpc>
            </a:pPr>
            <a:r>
              <a:rPr lang="en-US" sz="12000">
                <a:solidFill>
                  <a:srgbClr val="FFD034"/>
                </a:solidFill>
                <a:latin typeface="TC October"/>
                <a:ea typeface="TC October"/>
                <a:cs typeface="TC October"/>
                <a:sym typeface="TC October"/>
              </a:rPr>
              <a:t>PROPOSED FEATURES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447940"/>
            <a:ext cx="5936457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6320" indent="-518160" lvl="1">
              <a:lnSpc>
                <a:spcPts val="5759"/>
              </a:lnSpc>
              <a:buAutoNum type="arabicPeriod" startAt="1"/>
            </a:pPr>
            <a:r>
              <a:rPr lang="en-US" sz="48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LANDING PAGE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57644" y="3447940"/>
            <a:ext cx="6161242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6320" indent="-518160" lvl="1">
              <a:lnSpc>
                <a:spcPts val="5759"/>
              </a:lnSpc>
              <a:buAutoNum type="arabicPeriod" startAt="1"/>
            </a:pPr>
            <a:r>
              <a:rPr lang="en-US" sz="48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SERVICES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192058"/>
            <a:ext cx="5936457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6320" indent="-518160" lvl="1">
              <a:lnSpc>
                <a:spcPts val="5759"/>
              </a:lnSpc>
              <a:buAutoNum type="arabicPeriod" startAt="1"/>
            </a:pPr>
            <a:r>
              <a:rPr lang="en-US" sz="48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PO</a:t>
            </a:r>
            <a:r>
              <a:rPr lang="en-US" sz="48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RTFOLIO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57644" y="5192058"/>
            <a:ext cx="6161242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6320" indent="-518160" lvl="1">
              <a:lnSpc>
                <a:spcPts val="5759"/>
              </a:lnSpc>
              <a:buAutoNum type="arabicPeriod" startAt="1"/>
            </a:pPr>
            <a:r>
              <a:rPr lang="en-US" sz="48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FAQ</a:t>
            </a:r>
            <a:r>
              <a:rPr lang="en-US" sz="48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S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537804"/>
            <a:ext cx="6161242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6320" indent="-518160" lvl="1">
              <a:lnSpc>
                <a:spcPts val="5759"/>
              </a:lnSpc>
              <a:buAutoNum type="arabicPeriod" startAt="1"/>
            </a:pPr>
            <a:r>
              <a:rPr lang="en-US" sz="48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C</a:t>
            </a:r>
            <a:r>
              <a:rPr lang="en-US" sz="48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ONTACT/ENQUIRE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57644" y="6537804"/>
            <a:ext cx="6161242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6320" indent="-518160" lvl="1">
              <a:lnSpc>
                <a:spcPts val="5759"/>
              </a:lnSpc>
              <a:buAutoNum type="arabicPeriod" startAt="1"/>
            </a:pPr>
            <a:r>
              <a:rPr lang="en-US" sz="48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CREDIBILITY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7880829"/>
            <a:ext cx="6161242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6320" indent="-518160" lvl="1">
              <a:lnSpc>
                <a:spcPts val="5759"/>
              </a:lnSpc>
              <a:buAutoNum type="arabicPeriod" startAt="1"/>
            </a:pPr>
            <a:r>
              <a:rPr lang="en-US" sz="48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WHATSAPP COMMUNICATION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042674" y="3447940"/>
            <a:ext cx="4216626" cy="4434311"/>
          </a:xfrm>
          <a:custGeom>
            <a:avLst/>
            <a:gdLst/>
            <a:ahLst/>
            <a:cxnLst/>
            <a:rect r="r" b="b" t="t" l="l"/>
            <a:pathLst>
              <a:path h="4434311" w="4216626">
                <a:moveTo>
                  <a:pt x="0" y="0"/>
                </a:moveTo>
                <a:lnTo>
                  <a:pt x="4216626" y="0"/>
                </a:lnTo>
                <a:lnTo>
                  <a:pt x="4216626" y="4434311"/>
                </a:lnTo>
                <a:lnTo>
                  <a:pt x="0" y="44343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96291" y="1212520"/>
            <a:ext cx="16230600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00"/>
              </a:lnSpc>
            </a:pPr>
            <a:r>
              <a:rPr lang="en-US" sz="12000">
                <a:solidFill>
                  <a:srgbClr val="FFD034"/>
                </a:solidFill>
                <a:latin typeface="TC October"/>
                <a:ea typeface="TC October"/>
                <a:cs typeface="TC October"/>
                <a:sym typeface="TC October"/>
              </a:rPr>
              <a:t>DESIGN &amp; USER EXPERIENCE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96291" y="2952393"/>
            <a:ext cx="5936457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COLOR THEME: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7004" y="3885843"/>
            <a:ext cx="412813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Dark blue and white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96291" y="4781550"/>
            <a:ext cx="5936457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TYPOGRAPHY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68192" y="5753100"/>
            <a:ext cx="678656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Barlow Condensed and Manrope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68192" y="6868461"/>
            <a:ext cx="797893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User Experience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: Friendly and Simple 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70156" y="2380016"/>
            <a:ext cx="16973168" cy="6672802"/>
          </a:xfrm>
          <a:custGeom>
            <a:avLst/>
            <a:gdLst/>
            <a:ahLst/>
            <a:cxnLst/>
            <a:rect r="r" b="b" t="t" l="l"/>
            <a:pathLst>
              <a:path h="6672802" w="16973168">
                <a:moveTo>
                  <a:pt x="0" y="0"/>
                </a:moveTo>
                <a:lnTo>
                  <a:pt x="16973168" y="0"/>
                </a:lnTo>
                <a:lnTo>
                  <a:pt x="16973168" y="6672802"/>
                </a:lnTo>
                <a:lnTo>
                  <a:pt x="0" y="66728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83" r="-1463" b="-183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12724" y="476250"/>
            <a:ext cx="16230600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00"/>
              </a:lnSpc>
            </a:pPr>
            <a:r>
              <a:rPr lang="en-US" sz="12000">
                <a:solidFill>
                  <a:srgbClr val="FFD034"/>
                </a:solidFill>
                <a:latin typeface="TC October"/>
                <a:ea typeface="TC October"/>
                <a:cs typeface="TC October"/>
                <a:sym typeface="TC October"/>
              </a:rPr>
              <a:t>WIREFRAMES 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51481" y="1943100"/>
            <a:ext cx="16985038" cy="8026808"/>
          </a:xfrm>
          <a:custGeom>
            <a:avLst/>
            <a:gdLst/>
            <a:ahLst/>
            <a:cxnLst/>
            <a:rect r="r" b="b" t="t" l="l"/>
            <a:pathLst>
              <a:path h="8026808" w="16985038">
                <a:moveTo>
                  <a:pt x="0" y="0"/>
                </a:moveTo>
                <a:lnTo>
                  <a:pt x="16985038" y="0"/>
                </a:lnTo>
                <a:lnTo>
                  <a:pt x="16985038" y="8026808"/>
                </a:lnTo>
                <a:lnTo>
                  <a:pt x="0" y="80268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51" t="0" r="-651" b="-996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12724" y="476250"/>
            <a:ext cx="16230600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00"/>
              </a:lnSpc>
            </a:pPr>
            <a:r>
              <a:rPr lang="en-US" sz="12000">
                <a:solidFill>
                  <a:srgbClr val="FFD034"/>
                </a:solidFill>
                <a:latin typeface="TC October"/>
                <a:ea typeface="TC October"/>
                <a:cs typeface="TC October"/>
                <a:sym typeface="TC October"/>
              </a:rPr>
              <a:t>WIREFRAMES 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4587" y="3375507"/>
            <a:ext cx="6563694" cy="5978928"/>
          </a:xfrm>
          <a:custGeom>
            <a:avLst/>
            <a:gdLst/>
            <a:ahLst/>
            <a:cxnLst/>
            <a:rect r="r" b="b" t="t" l="l"/>
            <a:pathLst>
              <a:path h="5978928" w="6563694">
                <a:moveTo>
                  <a:pt x="0" y="0"/>
                </a:moveTo>
                <a:lnTo>
                  <a:pt x="6563694" y="0"/>
                </a:lnTo>
                <a:lnTo>
                  <a:pt x="6563694" y="5978929"/>
                </a:lnTo>
                <a:lnTo>
                  <a:pt x="0" y="59789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51254">
            <a:off x="14112158" y="1103941"/>
            <a:ext cx="1859372" cy="2537604"/>
          </a:xfrm>
          <a:custGeom>
            <a:avLst/>
            <a:gdLst/>
            <a:ahLst/>
            <a:cxnLst/>
            <a:rect r="r" b="b" t="t" l="l"/>
            <a:pathLst>
              <a:path h="2537604" w="1859372">
                <a:moveTo>
                  <a:pt x="0" y="0"/>
                </a:moveTo>
                <a:lnTo>
                  <a:pt x="1859372" y="0"/>
                </a:lnTo>
                <a:lnTo>
                  <a:pt x="1859372" y="2537604"/>
                </a:lnTo>
                <a:lnTo>
                  <a:pt x="0" y="25376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34757" y="1845515"/>
            <a:ext cx="14742175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00"/>
              </a:lnSpc>
            </a:pPr>
            <a:r>
              <a:rPr lang="en-US" sz="12000">
                <a:solidFill>
                  <a:srgbClr val="FFD034"/>
                </a:solidFill>
                <a:latin typeface="TC October"/>
                <a:ea typeface="TC October"/>
                <a:cs typeface="TC October"/>
                <a:sym typeface="TC October"/>
              </a:rPr>
              <a:t>TECHNOLOGY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30516" y="4590701"/>
            <a:ext cx="8428651" cy="510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80" indent="-453390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HTML</a:t>
            </a:r>
          </a:p>
          <a:p>
            <a:pPr algn="l" marL="906780" indent="-453390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CSS</a:t>
            </a:r>
          </a:p>
          <a:p>
            <a:pPr algn="l">
              <a:lnSpc>
                <a:spcPts val="5040"/>
              </a:lnSpc>
            </a:pPr>
          </a:p>
          <a:p>
            <a:pPr algn="l" marL="906780" indent="-453390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NODE.JS</a:t>
            </a:r>
          </a:p>
          <a:p>
            <a:pPr algn="l" marL="906780" indent="-453390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SQLite3</a:t>
            </a:r>
          </a:p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HOSTING &amp; DOMAIN </a:t>
            </a:r>
          </a:p>
          <a:p>
            <a:pPr algn="l" marL="906780" indent="-453390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GoDaddy</a:t>
            </a:r>
          </a:p>
          <a:p>
            <a:pPr algn="l" marL="906780" indent="-453390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Netlify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30516" y="3876961"/>
            <a:ext cx="251841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FRONTEND: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672915" y="5924836"/>
            <a:ext cx="223361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BACKEND: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03391" y="37881"/>
            <a:ext cx="3284609" cy="3454178"/>
          </a:xfrm>
          <a:custGeom>
            <a:avLst/>
            <a:gdLst/>
            <a:ahLst/>
            <a:cxnLst/>
            <a:rect r="r" b="b" t="t" l="l"/>
            <a:pathLst>
              <a:path h="3454178" w="3284609">
                <a:moveTo>
                  <a:pt x="0" y="0"/>
                </a:moveTo>
                <a:lnTo>
                  <a:pt x="3284609" y="0"/>
                </a:lnTo>
                <a:lnTo>
                  <a:pt x="3284609" y="3454178"/>
                </a:lnTo>
                <a:lnTo>
                  <a:pt x="0" y="34541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96291" y="3762994"/>
            <a:ext cx="14317657" cy="4624226"/>
          </a:xfrm>
          <a:custGeom>
            <a:avLst/>
            <a:gdLst/>
            <a:ahLst/>
            <a:cxnLst/>
            <a:rect r="r" b="b" t="t" l="l"/>
            <a:pathLst>
              <a:path h="4624226" w="14317657">
                <a:moveTo>
                  <a:pt x="0" y="0"/>
                </a:moveTo>
                <a:lnTo>
                  <a:pt x="14317657" y="0"/>
                </a:lnTo>
                <a:lnTo>
                  <a:pt x="14317657" y="4624226"/>
                </a:lnTo>
                <a:lnTo>
                  <a:pt x="0" y="46242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81" t="0" r="-281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96291" y="1212520"/>
            <a:ext cx="16230600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00"/>
              </a:lnSpc>
            </a:pPr>
            <a:r>
              <a:rPr lang="en-US" sz="12000">
                <a:solidFill>
                  <a:srgbClr val="FFD034"/>
                </a:solidFill>
                <a:latin typeface="TC October"/>
                <a:ea typeface="TC October"/>
                <a:cs typeface="TC October"/>
                <a:sym typeface="TC October"/>
              </a:rPr>
              <a:t>BUDGET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83295">
            <a:off x="14376510" y="371876"/>
            <a:ext cx="2631479" cy="2526220"/>
          </a:xfrm>
          <a:custGeom>
            <a:avLst/>
            <a:gdLst/>
            <a:ahLst/>
            <a:cxnLst/>
            <a:rect r="r" b="b" t="t" l="l"/>
            <a:pathLst>
              <a:path h="2526220" w="2631479">
                <a:moveTo>
                  <a:pt x="0" y="0"/>
                </a:moveTo>
                <a:lnTo>
                  <a:pt x="2631479" y="0"/>
                </a:lnTo>
                <a:lnTo>
                  <a:pt x="2631479" y="2526220"/>
                </a:lnTo>
                <a:lnTo>
                  <a:pt x="0" y="2526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51587">
            <a:off x="582128" y="261774"/>
            <a:ext cx="3489206" cy="2639108"/>
          </a:xfrm>
          <a:custGeom>
            <a:avLst/>
            <a:gdLst/>
            <a:ahLst/>
            <a:cxnLst/>
            <a:rect r="r" b="b" t="t" l="l"/>
            <a:pathLst>
              <a:path h="2639108" w="3489206">
                <a:moveTo>
                  <a:pt x="0" y="0"/>
                </a:moveTo>
                <a:lnTo>
                  <a:pt x="3489206" y="0"/>
                </a:lnTo>
                <a:lnTo>
                  <a:pt x="3489206" y="2639108"/>
                </a:lnTo>
                <a:lnTo>
                  <a:pt x="0" y="26391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263420">
            <a:off x="4434211" y="4127517"/>
            <a:ext cx="1071064" cy="979537"/>
          </a:xfrm>
          <a:custGeom>
            <a:avLst/>
            <a:gdLst/>
            <a:ahLst/>
            <a:cxnLst/>
            <a:rect r="r" b="b" t="t" l="l"/>
            <a:pathLst>
              <a:path h="979537" w="1071064">
                <a:moveTo>
                  <a:pt x="0" y="0"/>
                </a:moveTo>
                <a:lnTo>
                  <a:pt x="1071064" y="0"/>
                </a:lnTo>
                <a:lnTo>
                  <a:pt x="1071064" y="979537"/>
                </a:lnTo>
                <a:lnTo>
                  <a:pt x="0" y="97953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444072">
            <a:off x="8881006" y="4119558"/>
            <a:ext cx="1303570" cy="995453"/>
          </a:xfrm>
          <a:custGeom>
            <a:avLst/>
            <a:gdLst/>
            <a:ahLst/>
            <a:cxnLst/>
            <a:rect r="r" b="b" t="t" l="l"/>
            <a:pathLst>
              <a:path h="995453" w="1303570">
                <a:moveTo>
                  <a:pt x="0" y="0"/>
                </a:moveTo>
                <a:lnTo>
                  <a:pt x="1303570" y="0"/>
                </a:lnTo>
                <a:lnTo>
                  <a:pt x="1303570" y="995454"/>
                </a:lnTo>
                <a:lnTo>
                  <a:pt x="0" y="99545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724814" y="361950"/>
            <a:ext cx="10919883" cy="276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00"/>
              </a:lnSpc>
            </a:pPr>
            <a:r>
              <a:rPr lang="en-US" sz="12000">
                <a:solidFill>
                  <a:srgbClr val="FFD034"/>
                </a:solidFill>
                <a:latin typeface="TC October"/>
                <a:ea typeface="TC October"/>
                <a:cs typeface="TC October"/>
                <a:sym typeface="TC October"/>
              </a:rPr>
              <a:t>TIMELINES &amp; MILESTONES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93721" y="5593469"/>
            <a:ext cx="4707811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Planning and Research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01532" y="5727753"/>
            <a:ext cx="4707811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Website Development Stage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75746" y="5727753"/>
            <a:ext cx="4707811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Testing and Debugging Stage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93721" y="4781550"/>
            <a:ext cx="4707811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PHASE 1 (2 WEEKS)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101532" y="4781550"/>
            <a:ext cx="4707811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PHASE 2 (4 WEEKS)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34165" y="4781550"/>
            <a:ext cx="4707811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PHASE 3 (2 WEEK)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964049" y="4781550"/>
            <a:ext cx="4707811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PHASE 3 (1 WEEK)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724737" y="5727753"/>
            <a:ext cx="4707811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Deployment Stage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-2444072">
            <a:off x="13556838" y="4119558"/>
            <a:ext cx="1303570" cy="995453"/>
          </a:xfrm>
          <a:custGeom>
            <a:avLst/>
            <a:gdLst/>
            <a:ahLst/>
            <a:cxnLst/>
            <a:rect r="r" b="b" t="t" l="l"/>
            <a:pathLst>
              <a:path h="995453" w="1303570">
                <a:moveTo>
                  <a:pt x="0" y="0"/>
                </a:moveTo>
                <a:lnTo>
                  <a:pt x="1303570" y="0"/>
                </a:lnTo>
                <a:lnTo>
                  <a:pt x="1303570" y="995454"/>
                </a:lnTo>
                <a:lnTo>
                  <a:pt x="0" y="99545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675" t="-17316" r="0" b="-674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811031">
            <a:off x="812421" y="7823232"/>
            <a:ext cx="2346980" cy="1736765"/>
          </a:xfrm>
          <a:custGeom>
            <a:avLst/>
            <a:gdLst/>
            <a:ahLst/>
            <a:cxnLst/>
            <a:rect r="r" b="b" t="t" l="l"/>
            <a:pathLst>
              <a:path h="1736765" w="2346980">
                <a:moveTo>
                  <a:pt x="0" y="0"/>
                </a:moveTo>
                <a:lnTo>
                  <a:pt x="2346980" y="0"/>
                </a:lnTo>
                <a:lnTo>
                  <a:pt x="2346980" y="1736765"/>
                </a:lnTo>
                <a:lnTo>
                  <a:pt x="0" y="17367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41864">
            <a:off x="13858774" y="863499"/>
            <a:ext cx="3024223" cy="2644820"/>
          </a:xfrm>
          <a:custGeom>
            <a:avLst/>
            <a:gdLst/>
            <a:ahLst/>
            <a:cxnLst/>
            <a:rect r="r" b="b" t="t" l="l"/>
            <a:pathLst>
              <a:path h="2644820" w="3024223">
                <a:moveTo>
                  <a:pt x="0" y="0"/>
                </a:moveTo>
                <a:lnTo>
                  <a:pt x="3024223" y="0"/>
                </a:lnTo>
                <a:lnTo>
                  <a:pt x="3024223" y="2644821"/>
                </a:lnTo>
                <a:lnTo>
                  <a:pt x="0" y="26448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18978">
            <a:off x="317411" y="6866882"/>
            <a:ext cx="1422578" cy="1412232"/>
          </a:xfrm>
          <a:custGeom>
            <a:avLst/>
            <a:gdLst/>
            <a:ahLst/>
            <a:cxnLst/>
            <a:rect r="r" b="b" t="t" l="l"/>
            <a:pathLst>
              <a:path h="1412232" w="1422578">
                <a:moveTo>
                  <a:pt x="0" y="0"/>
                </a:moveTo>
                <a:lnTo>
                  <a:pt x="1422578" y="0"/>
                </a:lnTo>
                <a:lnTo>
                  <a:pt x="1422578" y="1412232"/>
                </a:lnTo>
                <a:lnTo>
                  <a:pt x="0" y="14122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702061" y="4279604"/>
            <a:ext cx="8883878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00"/>
              </a:lnSpc>
            </a:pPr>
            <a:r>
              <a:rPr lang="en-US" sz="12000">
                <a:solidFill>
                  <a:srgbClr val="3D372C"/>
                </a:solidFill>
                <a:latin typeface="TC October"/>
                <a:ea typeface="TC October"/>
                <a:cs typeface="TC October"/>
                <a:sym typeface="TC October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DAHR5jDrOfA</dc:identifier>
  <dcterms:modified xsi:type="dcterms:W3CDTF">2011-08-01T06:04:30Z</dcterms:modified>
  <cp:revision>1</cp:revision>
  <dc:title>WEDE5020 Project Proposal</dc:title>
</cp:coreProperties>
</file>